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9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C96A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914400"/>
            <a:ext cx="10362895" cy="50292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50800">
            <a:solidFill>
              <a:srgbClr val="7A4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1371600"/>
            <a:ext cx="7802575" cy="502920"/>
          </a:xfrm>
          <a:prstGeom prst="roundRect">
            <a:avLst>
              <a:gd name="adj" fmla="val 49091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371600"/>
            <a:ext cx="7802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『2026 관광데이터 활용 공모전』 — ① 웹·앱 개발 부문 제안서 (제주 특화)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94484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OkeyMeal (오키밀)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9448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관광객의 식이 안전 및 보편적 관광권 보장을 위한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초개인화 안심 미식 케어 플랫폼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163928" y="49377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255368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5-Layer Data Fusion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07128" y="49377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998568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RAG 추론 엔진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50328" y="493776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741768" y="4937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Medical Safety Net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1) 서비스 기획배경 및 필요성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Background &amp; Necessity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547208" cy="4800600"/>
          </a:xfrm>
          <a:prstGeom prst="roundRect">
            <a:avLst>
              <a:gd name="adj" fmla="val 1905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6304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63040"/>
            <a:ext cx="5108296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서비스 기획 배경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965960"/>
            <a:ext cx="499856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식이 다양성 확산: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비건 약 7,900만 명(Statista), 할랄 인구 약 18억 명(Pew Research) 등 방한 관광객의 식이 요구가 급증 중이나 수용 태세는 미흡함.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파편화로 인한 '음식 공포':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관광 정보와 식품 성분 정보가 분절되어 있어 육수나 소스 내 숨겨진 성분 확인이 불가능함.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소통 기술의 한계: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번역기는 텍스트만 읽을 뿐, 해당 성분이 사용자에게 안전한지 판단하거나 비상 대응하는 기능이 없음.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7288" y="1280160"/>
            <a:ext cx="5547208" cy="4800600"/>
          </a:xfrm>
          <a:prstGeom prst="roundRect">
            <a:avLst>
              <a:gd name="adj" fmla="val 1905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0168" y="146304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3320" y="1463040"/>
            <a:ext cx="5108296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6534760" y="1463040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서비스 필요성 (공익적 가치)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61608" y="2011680"/>
            <a:ext cx="4998568" cy="594360"/>
          </a:xfrm>
          <a:prstGeom prst="roundRect">
            <a:avLst>
              <a:gd name="adj" fmla="val 9231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553048" y="2011680"/>
            <a:ext cx="481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"안전은 관광객의 취향이 아닌, 생명과 직결된 생존의 권리입니다."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1608" y="2743200"/>
            <a:ext cx="499856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생존형 관광 인프라: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아나필락시스 쇼크 등 치명적 사고 예방과 비상시 즉각 대응을 위한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안전망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구축.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포용적 관광(Inclusive Tourism):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식이 소수자들도 차별 없이 한국의 미식을 즐길 수 있는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보편적 관광권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보장.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소상공인 상생: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응대가 어려운 점주에게 AI 대체 레시피 및 질문 답변 지원으로 정보 격차 해소.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2) 서비스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Features &amp; Strategy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592928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D88A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17320"/>
            <a:ext cx="5154016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173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서비스 소개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5227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"외국인 관광객의 생존형 식이 고민을 기술로 해결하는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초개인화 안심 미식 케어 플랫폼"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41568" y="1280160"/>
            <a:ext cx="5592928" cy="1371600"/>
          </a:xfrm>
          <a:prstGeom prst="roundRect">
            <a:avLst>
              <a:gd name="adj" fmla="val 6667"/>
            </a:avLst>
          </a:prstGeom>
          <a:solidFill>
            <a:srgbClr val="F7C96A"/>
          </a:solidFill>
          <a:ln w="25400">
            <a:solidFill>
              <a:srgbClr val="7A4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448" y="1417320"/>
            <a:ext cx="5227168" cy="36576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5888" y="14173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브랜드 네이밍 의미 (OkeyMeal)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15888" y="1920240"/>
            <a:ext cx="243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Okey (Okay)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안심해도 좋다는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확정적 긍정 신호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46591" y="1920240"/>
            <a:ext cx="182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29471" y="1920240"/>
            <a:ext cx="2430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Meal (식사)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장벽 없이 즐기는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행복한 식사 경험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3618953" cy="3291840"/>
          </a:xfrm>
          <a:prstGeom prst="roundRect">
            <a:avLst>
              <a:gd name="adj" fmla="val 2778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92608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2926080"/>
            <a:ext cx="3180041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2926080"/>
            <a:ext cx="30703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주요 기능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1580877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429000"/>
            <a:ext cx="1580877" cy="64008"/>
          </a:xfrm>
          <a:prstGeom prst="rect">
            <a:avLst/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20440"/>
            <a:ext cx="1580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3813048"/>
            <a:ext cx="1580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온보딩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1397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초개인화 설정 —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22종 알레르기·비건·종교 제약 설정. 비회원 게스트 모드 지원.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12397" y="3429000"/>
            <a:ext cx="1580877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12397" y="3429000"/>
            <a:ext cx="1580877" cy="64008"/>
          </a:xfrm>
          <a:prstGeom prst="rect">
            <a:avLst/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12397" y="3520440"/>
            <a:ext cx="1580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312397" y="3813048"/>
            <a:ext cx="1580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AI 렌즈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03837" y="4069080"/>
            <a:ext cx="1397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Fast-Check —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메뉴판 촬영 시 위험/안전 신호등 + RAG 기반 성분 맥락 해설.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754880"/>
            <a:ext cx="1580877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754880"/>
            <a:ext cx="1580877" cy="64008"/>
          </a:xfrm>
          <a:prstGeom prst="rect">
            <a:avLst/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46320"/>
            <a:ext cx="1580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0080" y="5138928"/>
            <a:ext cx="1580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소통 지원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394960"/>
            <a:ext cx="1397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질문 생성 —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점주용 한국어 질문 자동 생성 및 QR 기반 대체 레시피 제안.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12397" y="4754880"/>
            <a:ext cx="1580877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12397" y="4754880"/>
            <a:ext cx="1580877" cy="64008"/>
          </a:xfrm>
          <a:prstGeom prst="rect">
            <a:avLst/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2397" y="4846320"/>
            <a:ext cx="1580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312397" y="5138928"/>
            <a:ext cx="1580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SOS 핫라인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403837" y="5394960"/>
            <a:ext cx="139799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 대응 — 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외국어 대응 응급실·약국 현 위치 기반 실시간 안내.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67593" y="2788920"/>
            <a:ext cx="4276945" cy="3291840"/>
          </a:xfrm>
          <a:prstGeom prst="roundRect">
            <a:avLst>
              <a:gd name="adj" fmla="val 2778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50473" y="292608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23625" y="2926080"/>
            <a:ext cx="3838033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Text 44"/>
          <p:cNvSpPr/>
          <p:nvPr/>
        </p:nvSpPr>
        <p:spPr>
          <a:xfrm>
            <a:off x="4515065" y="2926080"/>
            <a:ext cx="3728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서비스 차별성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0473" y="3429000"/>
          <a:ext cx="3911185" cy="914400"/>
        </p:xfrm>
        <a:graphic>
          <a:graphicData uri="http://schemas.openxmlformats.org/drawingml/2006/table">
            <a:tbl>
              <a:tblPr/>
              <a:tblGrid>
                <a:gridCol w="860461"/>
                <a:gridCol w="1329803"/>
                <a:gridCol w="172092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(Google/Papago)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OkeyMeal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성분 분석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단순 단어 번역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맥락 해설 + 개인 안전 판정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신뢰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비정형 리뷰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식약처·관광공사 공인 DB 융합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점주 소통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직접 질의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질문 생성 + 대체 조리법 제안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엔진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맵 의존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하이브리드 안심 맵 (무설치 접근)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D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8535978" y="2788920"/>
            <a:ext cx="3289957" cy="3291840"/>
          </a:xfrm>
          <a:prstGeom prst="roundRect">
            <a:avLst>
              <a:gd name="adj" fmla="val 2779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718858" y="292608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792010" y="2926080"/>
            <a:ext cx="2851045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1" name="Text 48"/>
          <p:cNvSpPr/>
          <p:nvPr/>
        </p:nvSpPr>
        <p:spPr>
          <a:xfrm>
            <a:off x="8883450" y="2926080"/>
            <a:ext cx="27413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지역 특화 (제주)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8810298" y="3429000"/>
            <a:ext cx="274131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향토 성분 추적: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메밀, 돼지기름, 액젓 등 제주 특유의 숨겨진 성분 집중 트래킹.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안심 식당 루트: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관광공사 POI 기반 '안심 식당' 및 배리어 프리 코스 제공.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제로 장벽 보급: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스티커 배포로 점주 앱 설치 없이 서비스 참여 유도.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여정 시나리오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 Experience Journey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1277295" cy="640080"/>
          </a:xfrm>
          <a:prstGeom prst="roundRect">
            <a:avLst>
              <a:gd name="adj" fmla="val 8571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1280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"입국부터 식사, 비상 상황까지 — 끊김 없는 디지털 안심 케어 시나리오"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716454" cy="3931920"/>
          </a:xfrm>
          <a:prstGeom prst="roundRect">
            <a:avLst>
              <a:gd name="adj" fmla="val 3366"/>
            </a:avLst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2716454" cy="73152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7744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안심 탐색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7164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🔍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2259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하이브리드 맵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기반 필터 검색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프로필 자동 대조 및 신호등 표시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0814" y="2148840"/>
            <a:ext cx="2716454" cy="3931920"/>
          </a:xfrm>
          <a:prstGeom prst="roundRect">
            <a:avLst>
              <a:gd name="adj" fmla="val 3366"/>
            </a:avLst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814" y="2148840"/>
            <a:ext cx="2716454" cy="73152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694" y="237744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실시간 분석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10814" y="2926080"/>
            <a:ext cx="27164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📸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3585134" y="4251960"/>
            <a:ext cx="2259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렌즈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메뉴판 촬영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식약처 DB 대조 후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성분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즉시 판별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64428" y="2148840"/>
            <a:ext cx="2716454" cy="3931920"/>
          </a:xfrm>
          <a:prstGeom prst="roundRect">
            <a:avLst>
              <a:gd name="adj" fmla="val 3366"/>
            </a:avLst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4428" y="2148840"/>
            <a:ext cx="2716454" cy="73152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7308" y="237744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스마트 소통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64428" y="2926080"/>
            <a:ext cx="27164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💬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6438748" y="4251960"/>
            <a:ext cx="2259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생성한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질문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확인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스캔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 대체 레시피 주문 성공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18041" y="2148840"/>
            <a:ext cx="2716454" cy="3931920"/>
          </a:xfrm>
          <a:prstGeom prst="roundRect">
            <a:avLst>
              <a:gd name="adj" fmla="val 3366"/>
            </a:avLst>
          </a:prstGeom>
          <a:solidFill>
            <a:srgbClr val="F9F9F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18041" y="2148840"/>
            <a:ext cx="2716454" cy="73152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0921" y="237744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사후 대응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018041" y="2926080"/>
            <a:ext cx="271645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🚨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9292361" y="4251960"/>
            <a:ext cx="22592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비상시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SOS 버튼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클릭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외국어 가능 </a:t>
            </a:r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응급실/약국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실시간 안내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3) 데이터 활용 방안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5-Layer Data Fusion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1277295" cy="2194560"/>
          </a:xfrm>
          <a:prstGeom prst="roundRect">
            <a:avLst>
              <a:gd name="adj" fmla="val 4167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17320"/>
            <a:ext cx="10838383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173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활용 예정 한국관광공사 OpenAPI &amp; 공공데이터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[필수] 한국관광공사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33172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국문/다국어 관광정보 (Tour API)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무장애 여행 정보 서비스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관광빅데이터 플랫폼 (DataLab)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77258" y="19202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[보건/식품] 식약처·의료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77258" y="233172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조리식품 레시피 DB (COOKRCP)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식품영양성분 DB (I2791)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병의원·약국 현황 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14437" y="19202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[민간 인프라]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14437" y="233172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Maps API (로컬 상세)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Maps Platform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Gemini API (RAG AI)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11277295" cy="2468880"/>
          </a:xfrm>
          <a:prstGeom prst="roundRect">
            <a:avLst>
              <a:gd name="adj" fmla="val 3704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4904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749040"/>
            <a:ext cx="10838383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74904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데이터 활용 방식 — 5-Layer Data Fusion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732020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88A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7320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관광공사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식당·POI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0126" y="473202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557211" y="4732020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88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57211" y="47320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식약처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레시피·성분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35817" y="473202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382902" y="4732020"/>
            <a:ext cx="960120" cy="960120"/>
          </a:xfrm>
          <a:prstGeom prst="ellipse">
            <a:avLst/>
          </a:prstGeom>
          <a:solidFill>
            <a:srgbClr val="D88A3B"/>
          </a:solidFill>
          <a:ln w="31750">
            <a:solidFill>
              <a:srgbClr val="D88A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2902" y="47320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점주 레시피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직접입력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1508" y="473202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208593" y="4732020"/>
            <a:ext cx="960120" cy="960120"/>
          </a:xfrm>
          <a:prstGeom prst="ellipse">
            <a:avLst/>
          </a:prstGeom>
          <a:solidFill>
            <a:srgbClr val="7A4A1A"/>
          </a:solidFill>
          <a:ln w="31750">
            <a:solidFill>
              <a:srgbClr val="7A4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593" y="47320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캐시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87199" y="4732020"/>
            <a:ext cx="228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8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34284" y="4732020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34284" y="47320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Layer 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의료기관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비상응급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12890" y="4732020"/>
            <a:ext cx="365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9997135" y="468630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7C96A"/>
          </a:solidFill>
          <a:ln w="31750">
            <a:solidFill>
              <a:srgbClr val="7A4A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97135" y="46863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5-Layer 융합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초개인화 안심지수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AI 대체 조리안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4) 발전 방향 및 공공 기여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Inclusive Tourism &amp; Impact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592928" cy="2286000"/>
          </a:xfrm>
          <a:prstGeom prst="roundRect">
            <a:avLst>
              <a:gd name="adj" fmla="val 4000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17320"/>
            <a:ext cx="5154016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173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공익적 가치 및 기대효과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522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보편적 관광권 보장: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식이 소외 계층을 포용하는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'장벽 없는 관광 환경'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조성.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안전 브랜드 강화: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기반 안전망을 통해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'가장 안전한 미식 국가'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이미지 구축.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소상공인 상생: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하나로 구현되는 AI 지원을 통해 영세 점주의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전환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기여.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선순환: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수집된 식이 트렌드 빅데이터를 공공에 공유하여 정책 수립 지원.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1568" y="1280160"/>
            <a:ext cx="5592928" cy="2286000"/>
          </a:xfrm>
          <a:prstGeom prst="roundRect">
            <a:avLst>
              <a:gd name="adj" fmla="val 4000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448" y="141732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97600" y="1417320"/>
            <a:ext cx="5154016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6489040" y="1417320"/>
            <a:ext cx="504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향후 발전 방향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4448" y="1920240"/>
            <a:ext cx="522716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K-Food 안심 인증제: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공인 데이터 검증 기반 '외국인 안심 식당' 인증 마크 배포.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거점 확대: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제주의 성공 모델을 서울, 부산 등 전국 관광 거점으로 확장.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9A8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</a:t>
            </a:r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헬스 연동: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데이터 실시간 연동으로 원스톱 케어 완성 (Phase 5).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11277295" cy="2377440"/>
          </a:xfrm>
          <a:prstGeom prst="roundRect">
            <a:avLst>
              <a:gd name="adj" fmla="val 3846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4048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840480"/>
            <a:ext cx="10838383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84048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핵심 성과 지표 (KPI - 제주 파일럿 기준)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43400"/>
          <a:ext cx="10911535" cy="914400"/>
        </p:xfrm>
        <a:graphic>
          <a:graphicData uri="http://schemas.openxmlformats.org/drawingml/2006/table">
            <a:tbl>
              <a:tblPr/>
              <a:tblGrid>
                <a:gridCol w="2727884"/>
                <a:gridCol w="2182307"/>
                <a:gridCol w="600134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방법 및 의미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8A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파일럿 참여 식당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10개소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제주 지역 점주 온보딩 수 (Phase 4 종료 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성분 분석 정확도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90%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식약처 DB 대조 정답 레이블 대비 일치율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QR 알림 응답 속도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3초 이내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스캔 시 점주 수신까지의 지연 시간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경험 만족도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 / 5.0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외국인 대상 현장 인터뷰 및 앱 내 피드백 점수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8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01600">
            <a:solidFill>
              <a:srgbClr val="D88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118872"/>
            <a:ext cx="11953951" cy="6620256"/>
          </a:xfrm>
          <a:prstGeom prst="rect">
            <a:avLst/>
          </a:prstGeom>
          <a:ln w="15240">
            <a:solidFill>
              <a:srgbClr val="7A4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가이드 및 색상 테마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68335" y="45720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F9A88F"/>
          </a:solidFill>
          <a:ln w="12700">
            <a:solidFill>
              <a:srgbClr val="F9A8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68335" y="457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Brand Identity &amp; Colors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277295" cy="0"/>
          </a:xfrm>
          <a:prstGeom prst="line">
            <a:avLst/>
          </a:prstGeom>
          <a:noFill/>
          <a:ln w="25400">
            <a:solidFill>
              <a:srgbClr val="F9A8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1277295" cy="4800600"/>
          </a:xfrm>
          <a:prstGeom prst="roundRect">
            <a:avLst>
              <a:gd name="adj" fmla="val 1905"/>
            </a:avLst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73152" cy="365760"/>
          </a:xfrm>
          <a:prstGeom prst="rect">
            <a:avLst/>
          </a:prstGeom>
          <a:solidFill>
            <a:srgbClr val="D88A3B"/>
          </a:solidFill>
          <a:ln w="12700">
            <a:solidFill>
              <a:srgbClr val="D88A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417320"/>
            <a:ext cx="10838383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173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색상 제안 (Brand Color Themes)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OkeyMeal의 브랜드 가치(안심, 신뢰, 따뜻함)를 전달하기 위한 5가지 테마 제안입니다.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10911535" cy="365760"/>
          </a:xfrm>
          <a:prstGeom prst="rect">
            <a:avLst/>
          </a:prstGeom>
          <a:solidFill>
            <a:srgbClr val="D88A3B"/>
          </a:solidFill>
          <a:ln w="6350">
            <a:solidFill>
              <a:srgbClr val="7A4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31720"/>
            <a:ext cx="19640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4156" y="2331720"/>
            <a:ext cx="38190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조합 (Main / BG / Point)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3194" y="2331720"/>
            <a:ext cx="51284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컨셉 및 기대 효과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109115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8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4156" y="269748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3194" y="269748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697480"/>
            <a:ext cx="178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스눙스터 옐로우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1316" y="2680716"/>
            <a:ext cx="201168" cy="201168"/>
          </a:xfrm>
          <a:prstGeom prst="rect">
            <a:avLst/>
          </a:prstGeom>
          <a:solidFill>
            <a:srgbClr val="7A4A1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3924" y="269748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#7A4A (M)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1316" y="2848356"/>
            <a:ext cx="201168" cy="201168"/>
          </a:xfrm>
          <a:prstGeom prst="rect">
            <a:avLst/>
          </a:prstGeom>
          <a:solidFill>
            <a:srgbClr val="F7C96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3924" y="286512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#F7C9 (B)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1316" y="3015996"/>
            <a:ext cx="201168" cy="201168"/>
          </a:xfrm>
          <a:prstGeom prst="rect">
            <a:avLst/>
          </a:prstGeom>
          <a:solidFill>
            <a:srgbClr val="F9A88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3924" y="303276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#F9A8 (P)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4634" y="2697480"/>
            <a:ext cx="49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숭늉의 따뜻함과 캐릭터의 친근함을 강조. 사용자에게 심리적 안정감 제공.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200400"/>
            <a:ext cx="109115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8A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4156" y="320040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3194" y="320040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200400"/>
            <a:ext cx="178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모던 화이트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1316" y="3183636"/>
            <a:ext cx="201168" cy="201168"/>
          </a:xfrm>
          <a:prstGeom prst="rect">
            <a:avLst/>
          </a:prstGeom>
          <a:solidFill>
            <a:srgbClr val="2C3E5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33924" y="320040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#2C3E (M)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1316" y="33512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3924" y="336804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#FFFF (B)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1316" y="3518916"/>
            <a:ext cx="201168" cy="201168"/>
          </a:xfrm>
          <a:prstGeom prst="rect">
            <a:avLst/>
          </a:prstGeom>
          <a:solidFill>
            <a:srgbClr val="1ABC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33924" y="353568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#1ABC (P)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4634" y="3200400"/>
            <a:ext cx="49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깔끔하고 전문적인 인상을 주어 의료 데이터 연동 및 공익 제안 시 신뢰도 극대화.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3703320"/>
            <a:ext cx="109115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8A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4156" y="370332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3194" y="370332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703320"/>
            <a:ext cx="178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제주 오션 블루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1316" y="3686556"/>
            <a:ext cx="201168" cy="201168"/>
          </a:xfrm>
          <a:prstGeom prst="rect">
            <a:avLst/>
          </a:prstGeom>
          <a:solidFill>
            <a:srgbClr val="01579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924" y="370332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#0157 (M)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1316" y="3854196"/>
            <a:ext cx="201168" cy="201168"/>
          </a:xfrm>
          <a:prstGeom prst="rect">
            <a:avLst/>
          </a:prstGeom>
          <a:solidFill>
            <a:srgbClr val="E1F5F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33924" y="387096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#E1F5 (B)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1316" y="4021836"/>
            <a:ext cx="201168" cy="201168"/>
          </a:xfrm>
          <a:prstGeom prst="rect">
            <a:avLst/>
          </a:prstGeom>
          <a:solidFill>
            <a:srgbClr val="4FC3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33924" y="403860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#4FC3 (P)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14634" y="3703320"/>
            <a:ext cx="49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제주도의 맑은 바다와 하늘 상징. 신선한 식재료와 깨끗한 서비스 이미지 구축.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" y="4206240"/>
            <a:ext cx="109115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8A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04156" y="420624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3194" y="420624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4206240"/>
            <a:ext cx="178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미드나잇 다크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1316" y="4189476"/>
            <a:ext cx="201168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33924" y="420624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#FFFF (M)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1316" y="4357116"/>
            <a:ext cx="201168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33924" y="437388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#1A1A (B)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741316" y="4524756"/>
            <a:ext cx="201168" cy="201168"/>
          </a:xfrm>
          <a:prstGeom prst="rect">
            <a:avLst/>
          </a:prstGeom>
          <a:solidFill>
            <a:srgbClr val="0984E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33924" y="454152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#0984 (P)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14634" y="4206240"/>
            <a:ext cx="49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기술력을 강조하는 트렌디한 다크 모드. 야간 가시성이 좋으며 고급스러운 느낌.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" y="4709160"/>
            <a:ext cx="1091153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8A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604156" y="470916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23194" y="4709160"/>
            <a:ext cx="0" cy="502920"/>
          </a:xfrm>
          <a:prstGeom prst="line">
            <a:avLst/>
          </a:prstGeom>
          <a:noFill/>
          <a:ln w="6350">
            <a:solidFill>
              <a:srgbClr val="D88A3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" y="4709160"/>
            <a:ext cx="17811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소프트 블라썸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1316" y="4692396"/>
            <a:ext cx="201168" cy="201168"/>
          </a:xfrm>
          <a:prstGeom prst="rect">
            <a:avLst/>
          </a:prstGeom>
          <a:solidFill>
            <a:srgbClr val="A61E4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33924" y="470916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#A61E (M)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741316" y="4860036"/>
            <a:ext cx="201168" cy="201168"/>
          </a:xfrm>
          <a:prstGeom prst="rect">
            <a:avLst/>
          </a:prstGeom>
          <a:solidFill>
            <a:srgbClr val="FFF0F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33924" y="487680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#FFF0 (B)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1316" y="5027676"/>
            <a:ext cx="201168" cy="201168"/>
          </a:xfrm>
          <a:prstGeom prst="rect">
            <a:avLst/>
          </a:prstGeom>
          <a:solidFill>
            <a:srgbClr val="FF878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33924" y="5044440"/>
            <a:ext cx="3361837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#FF87 (P)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514634" y="4709160"/>
            <a:ext cx="49455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부드럽고 따뜻한 핑크톤. 아이 동반 가족과 여성 타겟에 효과적인 친근한 테마.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40080" y="539496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7C96A"/>
          </a:solidFill>
          <a:ln w="19050">
            <a:solidFill>
              <a:srgbClr val="D88A3B"/>
            </a:solidFill>
            <a:prstDash val="dash"/>
          </a:ln>
        </p:spPr>
      </p:sp>
      <p:sp>
        <p:nvSpPr>
          <p:cNvPr id="73" name="Text 71"/>
          <p:cNvSpPr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Tip: 초기 런칭 시에는 캐릭터 정체성이 강한 '스눙스터 옐로우'를 메인으로 사용하세요.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572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OkeyMeal - 2026 관광데이터 활용 공모전 제안서</dc:title>
  <dc:subject>PptxGenJS Presentation</dc:subject>
  <dc:creator>OkeyMeal Team</dc:creator>
  <cp:lastModifiedBy>OkeyMeal Team</cp:lastModifiedBy>
  <cp:revision>1</cp:revision>
  <dcterms:created xsi:type="dcterms:W3CDTF">2026-04-29T04:00:04Z</dcterms:created>
  <dcterms:modified xsi:type="dcterms:W3CDTF">2026-04-29T04:00:04Z</dcterms:modified>
</cp:coreProperties>
</file>